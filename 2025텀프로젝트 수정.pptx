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sldIdLst>
    <p:sldId id="256" r:id="rId2"/>
    <p:sldId id="270" r:id="rId3"/>
    <p:sldId id="271" r:id="rId4"/>
    <p:sldId id="292" r:id="rId5"/>
    <p:sldId id="273" r:id="rId6"/>
    <p:sldId id="293" r:id="rId7"/>
    <p:sldId id="272" r:id="rId8"/>
    <p:sldId id="274" r:id="rId9"/>
    <p:sldId id="295" r:id="rId10"/>
    <p:sldId id="275" r:id="rId11"/>
    <p:sldId id="296" r:id="rId12"/>
    <p:sldId id="277" r:id="rId13"/>
    <p:sldId id="278" r:id="rId14"/>
    <p:sldId id="276" r:id="rId15"/>
    <p:sldId id="279" r:id="rId16"/>
    <p:sldId id="280" r:id="rId17"/>
    <p:sldId id="285" r:id="rId18"/>
    <p:sldId id="281" r:id="rId19"/>
    <p:sldId id="282" r:id="rId20"/>
    <p:sldId id="283" r:id="rId21"/>
    <p:sldId id="284" r:id="rId22"/>
    <p:sldId id="286" r:id="rId23"/>
    <p:sldId id="287" r:id="rId24"/>
    <p:sldId id="289" r:id="rId25"/>
    <p:sldId id="288" r:id="rId26"/>
    <p:sldId id="290" r:id="rId27"/>
    <p:sldId id="29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1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618" y="108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77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10515600" cy="344002"/>
          </a:xfrm>
        </p:spPr>
        <p:txBody>
          <a:bodyPr>
            <a:noAutofit/>
          </a:bodyPr>
          <a:lstStyle>
            <a:lvl1pPr>
              <a:defRPr sz="25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42975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685800" indent="-228600">
              <a:buFont typeface="Wingdings" panose="05000000000000000000" pitchFamily="2" charset="2"/>
              <a:buChar char="§"/>
              <a:defRPr sz="20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9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3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9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6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5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5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3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5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45551-429A-42DA-AF6E-088C26FF196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llbirds.co.kr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텀프로젝트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신발 쇼핑몰</a:t>
            </a:r>
            <a:r>
              <a:rPr lang="en-US" altLang="ko-KR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640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클론 코딩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b="1"/>
              <a:t>올버즈</a:t>
            </a:r>
            <a:endParaRPr lang="en-US" altLang="ko-KR" sz="2000" b="1"/>
          </a:p>
          <a:p>
            <a:pPr lvl="1">
              <a:lnSpc>
                <a:spcPct val="150000"/>
              </a:lnSpc>
            </a:pPr>
            <a:r>
              <a:rPr lang="en-US" altLang="ko-KR" sz="1800">
                <a:hlinkClick r:id="rId2"/>
              </a:rPr>
              <a:t>https://allbirds.co.kr/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다양한 제품 중 남성신발로 한정</a:t>
            </a:r>
            <a:endParaRPr lang="en-US" altLang="ko-KR" sz="1800"/>
          </a:p>
          <a:p>
            <a:r>
              <a:rPr lang="ko-KR" altLang="en-US" sz="2000" b="1"/>
              <a:t>평가요소</a:t>
            </a:r>
            <a:endParaRPr lang="en-US" altLang="ko-KR" sz="2000" b="1"/>
          </a:p>
          <a:p>
            <a:pPr lvl="1">
              <a:lnSpc>
                <a:spcPct val="150000"/>
              </a:lnSpc>
            </a:pPr>
            <a:r>
              <a:rPr lang="ko-KR" altLang="en-US" sz="1800"/>
              <a:t>중간</a:t>
            </a:r>
            <a:r>
              <a:rPr lang="en-US" altLang="ko-KR" sz="1800"/>
              <a:t>: 35%</a:t>
            </a:r>
          </a:p>
          <a:p>
            <a:pPr lvl="1">
              <a:lnSpc>
                <a:spcPct val="150000"/>
              </a:lnSpc>
            </a:pPr>
            <a:r>
              <a:rPr lang="ko-KR" altLang="en-US" sz="1800"/>
              <a:t>기말</a:t>
            </a:r>
            <a:r>
              <a:rPr lang="en-US" altLang="ko-KR" sz="1800"/>
              <a:t>: 35%</a:t>
            </a:r>
          </a:p>
          <a:p>
            <a:pPr lvl="1">
              <a:lnSpc>
                <a:spcPct val="150000"/>
              </a:lnSpc>
            </a:pPr>
            <a:r>
              <a:rPr lang="ko-KR" altLang="en-US" sz="1800"/>
              <a:t>과제</a:t>
            </a:r>
            <a:r>
              <a:rPr lang="en-US" altLang="ko-KR" sz="1800"/>
              <a:t>: 10%</a:t>
            </a:r>
          </a:p>
          <a:p>
            <a:pPr lvl="1">
              <a:lnSpc>
                <a:spcPct val="150000"/>
              </a:lnSpc>
            </a:pPr>
            <a:r>
              <a:rPr lang="ko-KR" altLang="en-US" sz="1800">
                <a:solidFill>
                  <a:srgbClr val="FF0000"/>
                </a:solidFill>
              </a:rPr>
              <a:t>텀프로젝트</a:t>
            </a:r>
            <a:r>
              <a:rPr lang="en-US" altLang="ko-KR" sz="1800">
                <a:solidFill>
                  <a:srgbClr val="FF0000"/>
                </a:solidFill>
              </a:rPr>
              <a:t>: 20%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834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헤더</a:t>
            </a:r>
            <a:r>
              <a:rPr lang="en-US" altLang="ko-KR"/>
              <a:t>(</a:t>
            </a:r>
            <a:r>
              <a:rPr lang="ko-KR" altLang="en-US">
                <a:solidFill>
                  <a:srgbClr val="FF0000"/>
                </a:solidFill>
              </a:rPr>
              <a:t>이전</a:t>
            </a:r>
            <a:r>
              <a:rPr lang="en-US" altLang="ko-KR"/>
              <a:t>)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1) </a:t>
            </a:r>
            <a:r>
              <a:rPr lang="ko-KR" altLang="en-US" sz="2000" b="1"/>
              <a:t>화면과 동일한 헤더 만들기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0" indent="0">
              <a:buNone/>
            </a:pPr>
            <a:endParaRPr lang="en-US" altLang="ko-KR" sz="2000" b="1"/>
          </a:p>
          <a:p>
            <a:pPr lvl="1">
              <a:lnSpc>
                <a:spcPct val="150000"/>
              </a:lnSpc>
            </a:pPr>
            <a:endParaRPr lang="en-US" altLang="ko-KR" sz="1800" b="1"/>
          </a:p>
          <a:p>
            <a:pPr lvl="1">
              <a:lnSpc>
                <a:spcPct val="150000"/>
              </a:lnSpc>
            </a:pPr>
            <a:endParaRPr lang="en-US" altLang="ko-KR" sz="1800" b="1"/>
          </a:p>
          <a:p>
            <a:pPr lvl="1">
              <a:lnSpc>
                <a:spcPct val="150000"/>
              </a:lnSpc>
            </a:pPr>
            <a:r>
              <a:rPr lang="ko-KR" altLang="en-US" sz="1800" u="sng"/>
              <a:t>남성</a:t>
            </a:r>
            <a:r>
              <a:rPr lang="en-US" altLang="ko-KR" sz="1800" u="sng"/>
              <a:t>, </a:t>
            </a:r>
            <a:r>
              <a:rPr lang="ko-KR" altLang="en-US" sz="1800" u="sng"/>
              <a:t>여성 항목에 </a:t>
            </a:r>
            <a:r>
              <a:rPr lang="en-US" altLang="ko-KR" sz="1800" u="sng"/>
              <a:t>hover</a:t>
            </a:r>
            <a:r>
              <a:rPr lang="ko-KR" altLang="en-US" sz="1800" u="sng"/>
              <a:t>를 했을 때</a:t>
            </a:r>
            <a:r>
              <a:rPr lang="en-US" altLang="ko-KR" sz="1800" u="sng"/>
              <a:t>, sub menu</a:t>
            </a:r>
            <a:r>
              <a:rPr lang="ko-KR" altLang="en-US" sz="1800" u="sng"/>
              <a:t> 나오기</a:t>
            </a:r>
            <a:r>
              <a:rPr lang="en-US" altLang="ko-KR" sz="1800" u="sng"/>
              <a:t>(</a:t>
            </a:r>
            <a:r>
              <a:rPr lang="ko-KR" altLang="en-US" sz="1800" u="sng"/>
              <a:t>지속 가능성 생략</a:t>
            </a:r>
            <a:r>
              <a:rPr lang="en-US" altLang="ko-KR" sz="1800" u="sng"/>
              <a:t>)</a:t>
            </a:r>
          </a:p>
          <a:p>
            <a:pPr lvl="1">
              <a:lnSpc>
                <a:spcPct val="150000"/>
              </a:lnSpc>
            </a:pPr>
            <a:endParaRPr lang="en-US" altLang="ko-KR" sz="1800" b="1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5844B7-B547-4A8E-9B6A-10563197F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38" y="3198748"/>
            <a:ext cx="7959295" cy="365925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888A770-5D39-4884-AE6F-3F2F278AA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7940"/>
            <a:ext cx="12192000" cy="80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474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헤더</a:t>
            </a:r>
            <a:r>
              <a:rPr lang="en-US" altLang="ko-KR"/>
              <a:t>(</a:t>
            </a:r>
            <a:r>
              <a:rPr lang="ko-KR" altLang="en-US">
                <a:solidFill>
                  <a:srgbClr val="FF0000"/>
                </a:solidFill>
              </a:rPr>
              <a:t>신규</a:t>
            </a:r>
            <a:r>
              <a:rPr lang="en-US" altLang="ko-KR"/>
              <a:t>)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1) </a:t>
            </a:r>
            <a:r>
              <a:rPr lang="ko-KR" altLang="en-US" sz="2000" b="1"/>
              <a:t>화면과 동일한 헤더 만들기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endParaRPr lang="en-US" altLang="ko-KR" sz="1800" b="1"/>
          </a:p>
          <a:p>
            <a:pPr lvl="1">
              <a:lnSpc>
                <a:spcPct val="150000"/>
              </a:lnSpc>
            </a:pPr>
            <a:r>
              <a:rPr lang="ko-KR" altLang="en-US" sz="1800" u="sng"/>
              <a:t>지속 가능성에 </a:t>
            </a:r>
            <a:r>
              <a:rPr lang="en-US" altLang="ko-KR" sz="1800" u="sng"/>
              <a:t>hover</a:t>
            </a:r>
            <a:r>
              <a:rPr lang="ko-KR" altLang="en-US" sz="1800" u="sng"/>
              <a:t>를 할 경우 서브 메뉴 나오기</a:t>
            </a:r>
            <a:endParaRPr lang="en-US" altLang="ko-KR" sz="1800" u="sng"/>
          </a:p>
          <a:p>
            <a:pPr lvl="1">
              <a:lnSpc>
                <a:spcPct val="150000"/>
              </a:lnSpc>
            </a:pPr>
            <a:r>
              <a:rPr lang="ko-KR" altLang="en-US" sz="1800" u="sng"/>
              <a:t>올버즈</a:t>
            </a:r>
            <a:r>
              <a:rPr lang="en-US" altLang="ko-KR" sz="1800" u="sng"/>
              <a:t>, </a:t>
            </a:r>
            <a:r>
              <a:rPr lang="ko-KR" altLang="en-US" sz="1800" u="sng"/>
              <a:t>스토리</a:t>
            </a:r>
            <a:r>
              <a:rPr lang="en-US" altLang="ko-KR" sz="1800" u="sng"/>
              <a:t>, </a:t>
            </a:r>
            <a:r>
              <a:rPr lang="ko-KR" altLang="en-US" sz="1800" u="sng"/>
              <a:t>소식 요소의 애니메이션 구현</a:t>
            </a:r>
            <a:r>
              <a:rPr lang="en-US" altLang="ko-KR" sz="1800" u="sng"/>
              <a:t>(hover</a:t>
            </a:r>
            <a:r>
              <a:rPr lang="ko-KR" altLang="en-US" sz="1800" u="sng"/>
              <a:t>에 따라 오른쪽으로 이동</a:t>
            </a:r>
            <a:r>
              <a:rPr lang="en-US" altLang="ko-KR" sz="1800" u="sng"/>
              <a:t>)</a:t>
            </a:r>
          </a:p>
          <a:p>
            <a:pPr lvl="1">
              <a:lnSpc>
                <a:spcPct val="150000"/>
              </a:lnSpc>
            </a:pPr>
            <a:endParaRPr lang="en-US" altLang="ko-KR" sz="1800" b="1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FDE5722-8776-400B-ABE8-9B1273E9F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6097"/>
            <a:ext cx="12192000" cy="344967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89042AC-13F5-4A4B-B7B6-BF7C9D021D9A}"/>
              </a:ext>
            </a:extLst>
          </p:cNvPr>
          <p:cNvSpPr/>
          <p:nvPr/>
        </p:nvSpPr>
        <p:spPr>
          <a:xfrm>
            <a:off x="9965267" y="2472266"/>
            <a:ext cx="922866" cy="262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772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이미지 슬라이드</a:t>
            </a:r>
            <a:r>
              <a:rPr lang="en-US" altLang="ko-KR"/>
              <a:t>(</a:t>
            </a:r>
            <a:r>
              <a:rPr lang="ko-KR" altLang="en-US">
                <a:solidFill>
                  <a:srgbClr val="FF0000"/>
                </a:solidFill>
              </a:rPr>
              <a:t>이전</a:t>
            </a:r>
            <a:r>
              <a:rPr lang="en-US" altLang="ko-KR"/>
              <a:t>)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2) </a:t>
            </a:r>
            <a:r>
              <a:rPr lang="ko-KR" altLang="en-US" sz="2000" b="1"/>
              <a:t>렌딩페이지 이미지 슬라이드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1800"/>
              <a:t>총 </a:t>
            </a:r>
            <a:r>
              <a:rPr lang="en-US" altLang="ko-KR" sz="1800"/>
              <a:t>3</a:t>
            </a:r>
            <a:r>
              <a:rPr lang="ko-KR" altLang="en-US" sz="1800"/>
              <a:t>개의 이미지를 표시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좌</a:t>
            </a:r>
            <a:r>
              <a:rPr lang="en-US" altLang="ko-KR" sz="1800"/>
              <a:t>, </a:t>
            </a:r>
            <a:r>
              <a:rPr lang="ko-KR" altLang="en-US" sz="1800"/>
              <a:t>우 버튼 동작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타이머에 따라 자동 슬라이딩 동작</a:t>
            </a:r>
            <a:r>
              <a:rPr lang="en-US" altLang="ko-KR" sz="1800"/>
              <a:t>) 1-&gt;2-&gt;3-&gt;1-&gt;2….</a:t>
            </a:r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C669FA-CCA5-4088-B09D-D5213E7B2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885" y="2582401"/>
            <a:ext cx="8610600" cy="360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80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이미지 슬라이드</a:t>
            </a:r>
            <a:r>
              <a:rPr lang="en-US" altLang="ko-KR"/>
              <a:t>(</a:t>
            </a:r>
            <a:r>
              <a:rPr lang="ko-KR" altLang="en-US">
                <a:solidFill>
                  <a:srgbClr val="FF0000"/>
                </a:solidFill>
              </a:rPr>
              <a:t>신규</a:t>
            </a:r>
            <a:r>
              <a:rPr lang="en-US" altLang="ko-KR"/>
              <a:t>)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2) </a:t>
            </a:r>
            <a:r>
              <a:rPr lang="ko-KR" altLang="en-US" sz="2000" b="1"/>
              <a:t>렌딩페이지 이미지 슬라이드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1800"/>
              <a:t>실시간 인기 슬라이드 구현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처음에 </a:t>
            </a:r>
            <a:r>
              <a:rPr lang="en-US" altLang="ko-KR" sz="1800"/>
              <a:t>1,2,3,4,5 </a:t>
            </a:r>
            <a:r>
              <a:rPr lang="ko-KR" altLang="en-US" sz="1800">
                <a:sym typeface="Wingdings" panose="05000000000000000000" pitchFamily="2" charset="2"/>
              </a:rPr>
              <a:t>버튼을</a:t>
            </a:r>
            <a:r>
              <a:rPr lang="en-US" altLang="ko-KR" sz="1800">
                <a:sym typeface="Wingdings" panose="05000000000000000000" pitchFamily="2" charset="2"/>
              </a:rPr>
              <a:t> </a:t>
            </a:r>
            <a:r>
              <a:rPr lang="ko-KR" altLang="en-US" sz="1800">
                <a:sym typeface="Wingdings" panose="05000000000000000000" pitchFamily="2" charset="2"/>
              </a:rPr>
              <a:t>클릭할 때 마다 </a:t>
            </a:r>
            <a:r>
              <a:rPr lang="en-US" altLang="ko-KR" sz="1800">
                <a:sym typeface="Wingdings" panose="05000000000000000000" pitchFamily="2" charset="2"/>
              </a:rPr>
              <a:t>1</a:t>
            </a:r>
            <a:r>
              <a:rPr lang="ko-KR" altLang="en-US" sz="1800">
                <a:sym typeface="Wingdings" panose="05000000000000000000" pitchFamily="2" charset="2"/>
              </a:rPr>
              <a:t>번씩만 슬라이딩</a:t>
            </a:r>
            <a:r>
              <a:rPr lang="en-US" altLang="ko-KR" sz="1800">
                <a:sym typeface="Wingdings" panose="05000000000000000000" pitchFamily="2" charset="2"/>
              </a:rPr>
              <a:t>(</a:t>
            </a:r>
            <a:r>
              <a:rPr lang="ko-KR" altLang="en-US" sz="1800">
                <a:sym typeface="Wingdings" panose="05000000000000000000" pitchFamily="2" charset="2"/>
              </a:rPr>
              <a:t>그 다음은 </a:t>
            </a:r>
            <a:r>
              <a:rPr lang="en-US" altLang="ko-KR" sz="1800">
                <a:sym typeface="Wingdings" panose="05000000000000000000" pitchFamily="2" charset="2"/>
              </a:rPr>
              <a:t>2,3,4,5,6)</a:t>
            </a:r>
          </a:p>
          <a:p>
            <a:pPr lvl="1">
              <a:lnSpc>
                <a:spcPct val="150000"/>
              </a:lnSpc>
            </a:pPr>
            <a:r>
              <a:rPr lang="ko-KR" altLang="en-US" sz="1800">
                <a:sym typeface="Wingdings" panose="05000000000000000000" pitchFamily="2" charset="2"/>
              </a:rPr>
              <a:t>더 이상 슬라이딩 할 수 없다면 버튼 비활성화</a:t>
            </a:r>
            <a:endParaRPr lang="en-US" altLang="ko-KR" sz="180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ko-KR" altLang="en-US" sz="1800">
                <a:sym typeface="Wingdings" panose="05000000000000000000" pitchFamily="2" charset="2"/>
              </a:rPr>
              <a:t>실시간 인기 항목에 필요한 정보는 팀에서 정하되</a:t>
            </a:r>
            <a:r>
              <a:rPr lang="en-US" altLang="ko-KR" sz="1800">
                <a:sym typeface="Wingdings" panose="05000000000000000000" pitchFamily="2" charset="2"/>
              </a:rPr>
              <a:t>, </a:t>
            </a:r>
            <a:r>
              <a:rPr lang="ko-KR" altLang="en-US" sz="1800">
                <a:sym typeface="Wingdings" panose="05000000000000000000" pitchFamily="2" charset="2"/>
              </a:rPr>
              <a:t>주문과는 상관 없음</a:t>
            </a:r>
            <a:r>
              <a:rPr lang="en-US" altLang="ko-KR" sz="1800">
                <a:sym typeface="Wingdings" panose="05000000000000000000" pitchFamily="2" charset="2"/>
              </a:rPr>
              <a:t>(</a:t>
            </a:r>
            <a:r>
              <a:rPr lang="ko-KR" altLang="en-US" sz="1800">
                <a:sym typeface="Wingdings" panose="05000000000000000000" pitchFamily="2" charset="2"/>
              </a:rPr>
              <a:t>고정된 정보</a:t>
            </a:r>
            <a:r>
              <a:rPr lang="en-US" altLang="ko-KR" sz="1800">
                <a:sym typeface="Wingdings" panose="05000000000000000000" pitchFamily="2" charset="2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1800"/>
              <a:t>카테고리는 여전히 </a:t>
            </a:r>
            <a:r>
              <a:rPr lang="ko-KR" altLang="en-US" sz="1800">
                <a:solidFill>
                  <a:srgbClr val="0000CC"/>
                </a:solidFill>
              </a:rPr>
              <a:t>라이프 스타일</a:t>
            </a:r>
            <a:r>
              <a:rPr lang="ko-KR" altLang="en-US" sz="1800"/>
              <a:t>과 </a:t>
            </a:r>
            <a:r>
              <a:rPr lang="ko-KR" altLang="en-US" sz="1800">
                <a:solidFill>
                  <a:srgbClr val="0000CC"/>
                </a:solidFill>
              </a:rPr>
              <a:t>슬립온</a:t>
            </a:r>
            <a:r>
              <a:rPr lang="ko-KR" altLang="en-US" sz="1800"/>
              <a:t>만 존재</a:t>
            </a:r>
            <a:r>
              <a:rPr lang="ko-KR" altLang="en-US" sz="1800">
                <a:solidFill>
                  <a:srgbClr val="0000CC"/>
                </a:solidFill>
              </a:rPr>
              <a:t> 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CA2BCD-4BA3-4A5F-879B-A3589766A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456" y="3527121"/>
            <a:ext cx="7850144" cy="301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265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렌딩 페이지 디자인</a:t>
            </a:r>
            <a:r>
              <a:rPr lang="en-US" altLang="ko-KR"/>
              <a:t>(</a:t>
            </a:r>
            <a:r>
              <a:rPr lang="ko-KR" altLang="en-US">
                <a:solidFill>
                  <a:srgbClr val="FF0000"/>
                </a:solidFill>
              </a:rPr>
              <a:t>신규</a:t>
            </a:r>
            <a:r>
              <a:rPr lang="en-US" altLang="ko-KR"/>
              <a:t>)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3) </a:t>
            </a:r>
            <a:r>
              <a:rPr lang="ko-KR" altLang="en-US" sz="2000" b="1"/>
              <a:t>렌딩 페이지 동일하게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1800"/>
              <a:t>헤더</a:t>
            </a:r>
            <a:r>
              <a:rPr lang="en-US" altLang="ko-KR" sz="1800"/>
              <a:t>, </a:t>
            </a:r>
            <a:r>
              <a:rPr lang="ko-KR" altLang="en-US" sz="1800"/>
              <a:t>이미지 슬라이더를 포함한 렌딩페이지를 </a:t>
            </a:r>
            <a:r>
              <a:rPr lang="en-US" altLang="ko-KR" sz="1800"/>
              <a:t>footer</a:t>
            </a:r>
            <a:r>
              <a:rPr lang="ko-KR" altLang="en-US" sz="1800"/>
              <a:t>까지 동일하게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애니메이션은 채점 대상 제외</a:t>
            </a:r>
            <a:r>
              <a:rPr lang="en-US" altLang="ko-KR" sz="1800"/>
              <a:t>(</a:t>
            </a:r>
            <a:r>
              <a:rPr lang="ko-KR" altLang="en-US" sz="1800"/>
              <a:t>헤더 요구사항의 애니메이션은 구현해야 함</a:t>
            </a:r>
            <a:r>
              <a:rPr lang="en-US" altLang="ko-KR" sz="1800"/>
              <a:t>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66988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상품 목록 페이지</a:t>
            </a:r>
            <a:r>
              <a:rPr lang="en-US" altLang="ko-KR"/>
              <a:t>(</a:t>
            </a:r>
            <a:r>
              <a:rPr lang="ko-KR" altLang="en-US">
                <a:solidFill>
                  <a:srgbClr val="FF0000"/>
                </a:solidFill>
              </a:rPr>
              <a:t>이전</a:t>
            </a:r>
            <a:r>
              <a:rPr lang="en-US" altLang="ko-KR"/>
              <a:t>)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429755"/>
          </a:xfrm>
        </p:spPr>
        <p:txBody>
          <a:bodyPr/>
          <a:lstStyle/>
          <a:p>
            <a:r>
              <a:rPr lang="ko-KR" altLang="en-US" sz="2000" b="1"/>
              <a:t>남성</a:t>
            </a:r>
            <a:r>
              <a:rPr lang="en-US" altLang="ko-KR" sz="2000" b="1"/>
              <a:t>, </a:t>
            </a:r>
            <a:r>
              <a:rPr lang="ko-KR" altLang="en-US" sz="2000" b="1"/>
              <a:t>남성 신발로 제한</a:t>
            </a:r>
            <a:endParaRPr lang="en-US" altLang="ko-KR" sz="2000" b="1" dirty="0"/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헤더에서 남성 </a:t>
            </a:r>
            <a:r>
              <a:rPr lang="en-US" altLang="ko-KR" sz="1800" dirty="0"/>
              <a:t>-&gt; </a:t>
            </a:r>
            <a:r>
              <a:rPr lang="ko-KR" altLang="en-US" sz="1800" dirty="0"/>
              <a:t>남성 신발을 클릭했을 때 해당 </a:t>
            </a:r>
            <a:r>
              <a:rPr lang="ko-KR" altLang="en-US" sz="1800"/>
              <a:t>페이지 로딩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/>
              <a:t>하단에 있는 </a:t>
            </a:r>
            <a:r>
              <a:rPr lang="en-US" altLang="ko-KR"/>
              <a:t>Recently Viewed </a:t>
            </a:r>
            <a:r>
              <a:rPr lang="ko-KR" altLang="en-US"/>
              <a:t>항목은 생략</a:t>
            </a:r>
            <a:endParaRPr lang="en-US" altLang="ko-KR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2108F9-7452-452C-8A58-92325B0A9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34" y="1803400"/>
            <a:ext cx="10359749" cy="296333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20B5E3B-AD73-47D4-B99C-490261AE64C6}"/>
              </a:ext>
            </a:extLst>
          </p:cNvPr>
          <p:cNvSpPr/>
          <p:nvPr/>
        </p:nvSpPr>
        <p:spPr>
          <a:xfrm>
            <a:off x="7188200" y="1871133"/>
            <a:ext cx="626534" cy="262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49C268-993A-4BB7-821C-956081F00CFE}"/>
              </a:ext>
            </a:extLst>
          </p:cNvPr>
          <p:cNvSpPr/>
          <p:nvPr/>
        </p:nvSpPr>
        <p:spPr>
          <a:xfrm>
            <a:off x="3513665" y="2700867"/>
            <a:ext cx="1456267" cy="347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651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상품 목록 페이지</a:t>
            </a:r>
            <a:r>
              <a:rPr lang="en-US" altLang="ko-KR"/>
              <a:t>(</a:t>
            </a:r>
            <a:r>
              <a:rPr lang="ko-KR" altLang="en-US">
                <a:solidFill>
                  <a:srgbClr val="FF0000"/>
                </a:solidFill>
              </a:rPr>
              <a:t>신규</a:t>
            </a:r>
            <a:r>
              <a:rPr lang="en-US" altLang="ko-KR"/>
              <a:t>)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429755"/>
          </a:xfrm>
        </p:spPr>
        <p:txBody>
          <a:bodyPr/>
          <a:lstStyle/>
          <a:p>
            <a:r>
              <a:rPr lang="ko-KR" altLang="en-US" sz="2000" b="1"/>
              <a:t>남성</a:t>
            </a:r>
            <a:r>
              <a:rPr lang="en-US" altLang="ko-KR" sz="2000" b="1"/>
              <a:t>, </a:t>
            </a:r>
            <a:r>
              <a:rPr lang="ko-KR" altLang="en-US" sz="2000" b="1"/>
              <a:t>남성 신발로 제한</a:t>
            </a:r>
            <a:endParaRPr lang="en-US" altLang="ko-KR" sz="2000" b="1" dirty="0"/>
          </a:p>
          <a:p>
            <a:pPr lvl="1">
              <a:lnSpc>
                <a:spcPct val="150000"/>
              </a:lnSpc>
            </a:pPr>
            <a:r>
              <a:rPr lang="ko-KR" altLang="en-US" sz="1800"/>
              <a:t>헤더에서 남성 세일 </a:t>
            </a:r>
            <a:r>
              <a:rPr lang="en-US" altLang="ko-KR" sz="1800" dirty="0"/>
              <a:t>-&gt; </a:t>
            </a:r>
            <a:r>
              <a:rPr lang="ko-KR" altLang="en-US" sz="1800" dirty="0"/>
              <a:t>남성 신발을 클릭했을 때 해당 </a:t>
            </a:r>
            <a:r>
              <a:rPr lang="ko-KR" altLang="en-US" sz="1800"/>
              <a:t>페이지 로딩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43366EA-7A3E-48F1-99EB-F0FD26F7F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1" y="1811807"/>
            <a:ext cx="8475133" cy="259402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4BF653B-6189-4A0E-935F-EE13B613DCB7}"/>
              </a:ext>
            </a:extLst>
          </p:cNvPr>
          <p:cNvSpPr/>
          <p:nvPr/>
        </p:nvSpPr>
        <p:spPr>
          <a:xfrm>
            <a:off x="1142999" y="3429000"/>
            <a:ext cx="1456267" cy="3904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011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상품 목록 페이지</a:t>
            </a:r>
            <a:r>
              <a:rPr lang="en-US" altLang="ko-KR" sz="2800"/>
              <a:t>(</a:t>
            </a:r>
            <a:r>
              <a:rPr lang="ko-KR" altLang="en-US" sz="2800">
                <a:solidFill>
                  <a:srgbClr val="FF0000"/>
                </a:solidFill>
              </a:rPr>
              <a:t>기존</a:t>
            </a:r>
            <a:r>
              <a:rPr lang="en-US" altLang="ko-KR" sz="2800">
                <a:solidFill>
                  <a:srgbClr val="FF0000"/>
                </a:solidFill>
              </a:rPr>
              <a:t>+</a:t>
            </a:r>
            <a:r>
              <a:rPr lang="ko-KR" altLang="en-US" sz="2800">
                <a:solidFill>
                  <a:srgbClr val="FF0000"/>
                </a:solidFill>
              </a:rPr>
              <a:t>신규</a:t>
            </a:r>
            <a:r>
              <a:rPr lang="en-US" altLang="ko-KR" sz="2800"/>
              <a:t>)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4) </a:t>
            </a:r>
            <a:r>
              <a:rPr lang="ko-KR" altLang="en-US" sz="2000" b="1"/>
              <a:t>상품 목록 페이지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endParaRPr lang="en-US" altLang="ko-KR" sz="2000" b="1" dirty="0"/>
          </a:p>
          <a:p>
            <a:pPr lvl="1">
              <a:lnSpc>
                <a:spcPct val="150000"/>
              </a:lnSpc>
            </a:pPr>
            <a:r>
              <a:rPr lang="ko-KR" altLang="en-US" sz="1800"/>
              <a:t>신제품</a:t>
            </a:r>
            <a:r>
              <a:rPr lang="en-US" altLang="ko-KR" sz="1800"/>
              <a:t>, </a:t>
            </a:r>
            <a:r>
              <a:rPr lang="ko-KR" altLang="en-US" sz="1800"/>
              <a:t>라이프스타일</a:t>
            </a:r>
            <a:r>
              <a:rPr lang="en-US" altLang="ko-KR" sz="1800"/>
              <a:t>, </a:t>
            </a:r>
            <a:r>
              <a:rPr lang="ko-KR" altLang="en-US" sz="1800"/>
              <a:t>세일</a:t>
            </a:r>
            <a:r>
              <a:rPr lang="en-US" altLang="ko-KR" sz="1800"/>
              <a:t>, </a:t>
            </a:r>
            <a:r>
              <a:rPr lang="ko-KR" altLang="en-US" sz="1800"/>
              <a:t>슬립온만 다룸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>
                <a:solidFill>
                  <a:srgbClr val="FF0000"/>
                </a:solidFill>
              </a:rPr>
              <a:t>상품 목록 페이지는 아래와 같이 이전 페이지 형태로 동일하게 구성</a:t>
            </a:r>
            <a:r>
              <a:rPr lang="en-US" altLang="ko-KR" sz="1800"/>
              <a:t>(</a:t>
            </a:r>
            <a:r>
              <a:rPr lang="ko-KR" altLang="en-US" sz="1800"/>
              <a:t>신제품</a:t>
            </a:r>
            <a:r>
              <a:rPr lang="en-US" altLang="ko-KR" sz="1800"/>
              <a:t>, </a:t>
            </a:r>
            <a:r>
              <a:rPr lang="ko-KR" altLang="en-US" sz="1800"/>
              <a:t>라이프스타일</a:t>
            </a:r>
            <a:r>
              <a:rPr lang="en-US" altLang="ko-KR" sz="1800"/>
              <a:t>, </a:t>
            </a:r>
            <a:r>
              <a:rPr lang="ko-KR" altLang="en-US" sz="1800"/>
              <a:t>세일</a:t>
            </a:r>
            <a:r>
              <a:rPr lang="en-US" altLang="ko-KR" sz="1800"/>
              <a:t>, </a:t>
            </a:r>
            <a:r>
              <a:rPr lang="ko-KR" altLang="en-US" sz="1800"/>
              <a:t>슬립온 항목에 따라 필터링 가능</a:t>
            </a:r>
            <a:r>
              <a:rPr lang="en-US" altLang="ko-KR" sz="1800"/>
              <a:t>)</a:t>
            </a: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3854F16-68E4-4DC6-AF15-2E9930B52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438" y="2641542"/>
            <a:ext cx="10515600" cy="368954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EEEBEB0-052B-4B53-A8CE-FF755644D4FA}"/>
              </a:ext>
            </a:extLst>
          </p:cNvPr>
          <p:cNvSpPr/>
          <p:nvPr/>
        </p:nvSpPr>
        <p:spPr>
          <a:xfrm>
            <a:off x="2142066" y="5851688"/>
            <a:ext cx="626534" cy="262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070590-7448-4E78-9CAA-6349D4A3255F}"/>
              </a:ext>
            </a:extLst>
          </p:cNvPr>
          <p:cNvSpPr/>
          <p:nvPr/>
        </p:nvSpPr>
        <p:spPr>
          <a:xfrm>
            <a:off x="2870198" y="5851688"/>
            <a:ext cx="762001" cy="262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C2DEB3-41F5-4C18-B29B-E5F8DD525973}"/>
              </a:ext>
            </a:extLst>
          </p:cNvPr>
          <p:cNvSpPr/>
          <p:nvPr/>
        </p:nvSpPr>
        <p:spPr>
          <a:xfrm>
            <a:off x="4368799" y="5851688"/>
            <a:ext cx="508002" cy="262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836E8D-9C93-4202-91FF-90F41E306F86}"/>
              </a:ext>
            </a:extLst>
          </p:cNvPr>
          <p:cNvSpPr/>
          <p:nvPr/>
        </p:nvSpPr>
        <p:spPr>
          <a:xfrm>
            <a:off x="4969931" y="5851688"/>
            <a:ext cx="508002" cy="262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971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상품 목록 페이지</a:t>
            </a:r>
            <a:r>
              <a:rPr lang="en-US" altLang="ko-KR" sz="2800"/>
              <a:t>(</a:t>
            </a:r>
            <a:r>
              <a:rPr lang="ko-KR" altLang="en-US" sz="2800">
                <a:solidFill>
                  <a:srgbClr val="FF0000"/>
                </a:solidFill>
              </a:rPr>
              <a:t>신규</a:t>
            </a:r>
            <a:r>
              <a:rPr lang="en-US" altLang="ko-KR" sz="2800"/>
              <a:t>)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4) </a:t>
            </a:r>
            <a:r>
              <a:rPr lang="ko-KR" altLang="en-US" sz="2000" b="1"/>
              <a:t>상품 목록 페이지</a:t>
            </a:r>
            <a:endParaRPr lang="en-US" altLang="ko-KR" sz="2000" b="1" dirty="0"/>
          </a:p>
          <a:p>
            <a:pPr lvl="1">
              <a:lnSpc>
                <a:spcPct val="150000"/>
              </a:lnSpc>
            </a:pPr>
            <a:r>
              <a:rPr lang="en-US" altLang="ko-KR" sz="1800"/>
              <a:t>“</a:t>
            </a:r>
            <a:r>
              <a:rPr lang="ko-KR" altLang="en-US" sz="1800"/>
              <a:t>할일 전체</a:t>
            </a:r>
            <a:r>
              <a:rPr lang="en-US" altLang="ko-KR" sz="1800"/>
              <a:t>: </a:t>
            </a:r>
            <a:r>
              <a:rPr lang="ko-KR" altLang="en-US" sz="1800"/>
              <a:t>실시간 항목</a:t>
            </a:r>
            <a:r>
              <a:rPr lang="en-US" altLang="ko-KR" sz="1800"/>
              <a:t>”</a:t>
            </a:r>
            <a:r>
              <a:rPr lang="ko-KR" altLang="en-US" sz="1800"/>
              <a:t> </a:t>
            </a:r>
            <a:r>
              <a:rPr lang="en-US" altLang="ko-KR" sz="1800"/>
              <a:t>UI</a:t>
            </a:r>
            <a:r>
              <a:rPr lang="ko-KR" altLang="en-US" sz="1800"/>
              <a:t>에서 제외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44E23-8DA5-42E6-8717-09EFA793B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52" y="1579380"/>
            <a:ext cx="7182581" cy="266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861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제품 도메인 설명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b="1"/>
              <a:t>제품 카테고리</a:t>
            </a:r>
            <a:endParaRPr lang="en-US" altLang="ko-KR" sz="2000" b="1" dirty="0"/>
          </a:p>
          <a:p>
            <a:pPr lvl="1">
              <a:lnSpc>
                <a:spcPct val="150000"/>
              </a:lnSpc>
            </a:pPr>
            <a:r>
              <a:rPr lang="ko-KR" altLang="en-US" sz="1800">
                <a:solidFill>
                  <a:srgbClr val="0000CC"/>
                </a:solidFill>
              </a:rPr>
              <a:t>라이프 스타일</a:t>
            </a:r>
            <a:r>
              <a:rPr lang="ko-KR" altLang="en-US" sz="1800"/>
              <a:t>과 </a:t>
            </a:r>
            <a:r>
              <a:rPr lang="ko-KR" altLang="en-US" sz="1800">
                <a:solidFill>
                  <a:srgbClr val="0000CC"/>
                </a:solidFill>
              </a:rPr>
              <a:t>슬립온</a:t>
            </a:r>
            <a:endParaRPr lang="en-US" altLang="ko-KR" sz="1800">
              <a:solidFill>
                <a:srgbClr val="0000CC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1800"/>
              <a:t>하나의 제품에 대한 카테고리 등록은 복수개 가능</a:t>
            </a:r>
            <a:r>
              <a:rPr lang="en-US" altLang="ko-KR" sz="1800"/>
              <a:t>(</a:t>
            </a:r>
            <a:r>
              <a:rPr lang="ko-KR" altLang="en-US" sz="1800"/>
              <a:t>예를 들어 </a:t>
            </a:r>
            <a:r>
              <a:rPr lang="en-US" altLang="ko-KR" sz="1800"/>
              <a:t>A</a:t>
            </a:r>
            <a:r>
              <a:rPr lang="ko-KR" altLang="en-US" sz="1800"/>
              <a:t>제품은 라이프 스타일이면서 슬립온</a:t>
            </a:r>
            <a:r>
              <a:rPr lang="en-US" altLang="ko-KR" sz="180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1800">
                <a:solidFill>
                  <a:srgbClr val="0000CC"/>
                </a:solidFill>
              </a:rPr>
              <a:t>신제품</a:t>
            </a:r>
            <a:r>
              <a:rPr lang="ko-KR" altLang="en-US" sz="1800"/>
              <a:t>의 경우 제품 등록일 기준 </a:t>
            </a:r>
            <a:r>
              <a:rPr lang="en-US" altLang="ko-KR" sz="1800"/>
              <a:t>1</a:t>
            </a:r>
            <a:r>
              <a:rPr lang="ko-KR" altLang="en-US" sz="1800"/>
              <a:t>달 이내이면 자동 분류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>
                <a:solidFill>
                  <a:srgbClr val="0000CC"/>
                </a:solidFill>
              </a:rPr>
              <a:t>세일</a:t>
            </a:r>
            <a:r>
              <a:rPr lang="ko-KR" altLang="en-US" sz="1800"/>
              <a:t>의 경우 관리자가 설정한 세일 기간에 해당할 경우 자동 분류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en-US" altLang="ko-KR" sz="1800"/>
              <a:t>(</a:t>
            </a:r>
            <a:r>
              <a:rPr lang="ko-KR" altLang="en-US" sz="1800"/>
              <a:t>계정은 고객과 관리자로 구분됨</a:t>
            </a:r>
            <a:r>
              <a:rPr lang="en-US" altLang="ko-KR" sz="1800"/>
              <a:t>)</a:t>
            </a: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30645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제품 도메인 설명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b="1"/>
              <a:t>제품의 속성</a:t>
            </a:r>
            <a:endParaRPr lang="en-US" altLang="ko-KR" sz="2000" b="1" dirty="0"/>
          </a:p>
          <a:p>
            <a:pPr lvl="1">
              <a:lnSpc>
                <a:spcPct val="150000"/>
              </a:lnSpc>
            </a:pPr>
            <a:r>
              <a:rPr lang="ko-KR" altLang="en-US" sz="1800"/>
              <a:t>제품명</a:t>
            </a:r>
            <a:r>
              <a:rPr lang="en-US" altLang="ko-KR" sz="1800"/>
              <a:t>, </a:t>
            </a:r>
            <a:r>
              <a:rPr lang="ko-KR" altLang="en-US" sz="1800"/>
              <a:t>간단 소개</a:t>
            </a:r>
            <a:r>
              <a:rPr lang="en-US" altLang="ko-KR" sz="1800"/>
              <a:t>, </a:t>
            </a:r>
            <a:r>
              <a:rPr lang="ko-KR" altLang="en-US" sz="1800"/>
              <a:t>이미지</a:t>
            </a:r>
            <a:r>
              <a:rPr lang="en-US" altLang="ko-KR" sz="1800"/>
              <a:t>(N</a:t>
            </a:r>
            <a:r>
              <a:rPr lang="ko-KR" altLang="en-US" sz="1800"/>
              <a:t>개</a:t>
            </a:r>
            <a:r>
              <a:rPr lang="en-US" altLang="ko-KR" sz="1800"/>
              <a:t>), </a:t>
            </a:r>
            <a:r>
              <a:rPr lang="ko-KR" altLang="en-US" sz="1800"/>
              <a:t>카테고리</a:t>
            </a:r>
            <a:r>
              <a:rPr lang="en-US" altLang="ko-KR" sz="1800"/>
              <a:t>, </a:t>
            </a:r>
            <a:r>
              <a:rPr lang="ko-KR" altLang="en-US" sz="1800"/>
              <a:t>원가</a:t>
            </a:r>
            <a:r>
              <a:rPr lang="en-US" altLang="ko-KR" sz="1800"/>
              <a:t>, </a:t>
            </a:r>
            <a:r>
              <a:rPr lang="ko-KR" altLang="en-US" sz="1800"/>
              <a:t>할인율</a:t>
            </a:r>
            <a:r>
              <a:rPr lang="en-US" altLang="ko-KR" sz="1800"/>
              <a:t>, </a:t>
            </a:r>
            <a:r>
              <a:rPr lang="ko-KR" altLang="en-US" sz="1800"/>
              <a:t>가용 사이즈</a:t>
            </a:r>
            <a:r>
              <a:rPr lang="en-US" altLang="ko-KR" sz="1800"/>
              <a:t>, </a:t>
            </a:r>
            <a:r>
              <a:rPr lang="ko-KR" altLang="en-US" sz="1800">
                <a:solidFill>
                  <a:srgbClr val="0000CC"/>
                </a:solidFill>
              </a:rPr>
              <a:t>소재</a:t>
            </a:r>
            <a:endParaRPr lang="en-US" altLang="ko-KR" sz="1800">
              <a:solidFill>
                <a:srgbClr val="0000CC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EB5E14-034C-449F-8E7D-1223486ED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77" y="1778100"/>
            <a:ext cx="2392929" cy="4060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33CCF05-B6F6-4C2F-BFDB-E4539610C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387" y="1778100"/>
            <a:ext cx="3258413" cy="41754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1F744C-0254-40B9-A9A4-7FC74A6A8C37}"/>
              </a:ext>
            </a:extLst>
          </p:cNvPr>
          <p:cNvSpPr txBox="1"/>
          <p:nvPr/>
        </p:nvSpPr>
        <p:spPr>
          <a:xfrm>
            <a:off x="1667933" y="59535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목록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164701-6D52-4EFE-BF83-8DE3F02B8116}"/>
              </a:ext>
            </a:extLst>
          </p:cNvPr>
          <p:cNvSpPr txBox="1"/>
          <p:nvPr/>
        </p:nvSpPr>
        <p:spPr>
          <a:xfrm>
            <a:off x="4802592" y="595355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상세페이지</a:t>
            </a:r>
          </a:p>
        </p:txBody>
      </p:sp>
    </p:spTree>
    <p:extLst>
      <p:ext uri="{BB962C8B-B14F-4D97-AF65-F5344CB8AC3E}">
        <p14:creationId xmlns:p14="http://schemas.microsoft.com/office/powerpoint/2010/main" val="952666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상품 목록 페이지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5) </a:t>
            </a:r>
            <a:r>
              <a:rPr lang="ko-KR" altLang="en-US" sz="2000" b="1"/>
              <a:t>상품 목록 페이지 필터링 조건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ko-KR" altLang="en-US" sz="1800"/>
              <a:t>가용 사이즈</a:t>
            </a:r>
            <a:r>
              <a:rPr lang="en-US" altLang="ko-KR" sz="1800"/>
              <a:t>, </a:t>
            </a:r>
            <a:r>
              <a:rPr lang="ko-KR" altLang="en-US" sz="1800"/>
              <a:t>소재 </a:t>
            </a:r>
            <a:r>
              <a:rPr lang="en-US" altLang="ko-KR" sz="1800">
                <a:sym typeface="Wingdings" panose="05000000000000000000" pitchFamily="2" charset="2"/>
              </a:rPr>
              <a:t> </a:t>
            </a:r>
            <a:r>
              <a:rPr lang="ko-KR" altLang="en-US" sz="1800">
                <a:sym typeface="Wingdings" panose="05000000000000000000" pitchFamily="2" charset="2"/>
              </a:rPr>
              <a:t>가용 사이즈와 소재는 사이트를 참고하여 팀에서 선정</a:t>
            </a:r>
            <a:endParaRPr lang="en-US" altLang="ko-KR" sz="180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ko-KR" altLang="en-US" sz="1800">
                <a:sym typeface="Wingdings" panose="05000000000000000000" pitchFamily="2" charset="2"/>
              </a:rPr>
              <a:t>사이트에 있는 기능과 모델 필터링 조건은 생략</a:t>
            </a:r>
            <a:endParaRPr lang="en-US" altLang="ko-KR" sz="180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ko-KR" altLang="en-US" sz="1800"/>
              <a:t>필터링은 요소 클릭으로 진행되며 적용된 필터 정보는 적용된 필터 항목에 표시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각</a:t>
            </a:r>
            <a:r>
              <a:rPr lang="en-US" altLang="ko-KR" sz="1800"/>
              <a:t> </a:t>
            </a:r>
            <a:r>
              <a:rPr lang="ko-KR" altLang="en-US" sz="1800"/>
              <a:t>항목은 </a:t>
            </a:r>
            <a:r>
              <a:rPr lang="en-US" altLang="ko-KR" sz="1800"/>
              <a:t>or, </a:t>
            </a:r>
            <a:r>
              <a:rPr lang="ko-KR" altLang="en-US" sz="1800"/>
              <a:t>항목과 항목은 </a:t>
            </a:r>
            <a:r>
              <a:rPr lang="en-US" altLang="ko-KR" sz="1800"/>
              <a:t>and</a:t>
            </a:r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4458E7F-E5F9-4535-B71F-0FA037689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8982" y="1286934"/>
            <a:ext cx="2625614" cy="49613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EECD58A-3C94-4EB8-8D5F-935C84229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747" y="3181198"/>
            <a:ext cx="2124371" cy="21720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C05D1C-821A-42DA-AB17-204921E18681}"/>
              </a:ext>
            </a:extLst>
          </p:cNvPr>
          <p:cNvSpPr txBox="1"/>
          <p:nvPr/>
        </p:nvSpPr>
        <p:spPr>
          <a:xfrm>
            <a:off x="1591733" y="5825067"/>
            <a:ext cx="67620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사이즈는 </a:t>
            </a:r>
            <a:r>
              <a:rPr lang="en-US" altLang="ko-KR"/>
              <a:t>250</a:t>
            </a:r>
            <a:r>
              <a:rPr lang="ko-KR" altLang="en-US"/>
              <a:t>이거나 </a:t>
            </a:r>
            <a:r>
              <a:rPr lang="en-US" altLang="ko-KR"/>
              <a:t>255,</a:t>
            </a:r>
          </a:p>
          <a:p>
            <a:r>
              <a:rPr lang="ko-KR" altLang="en-US"/>
              <a:t>그 중에서 소재는 가볍고 시원한 </a:t>
            </a:r>
            <a:r>
              <a:rPr lang="en-US" altLang="ko-KR"/>
              <a:t>Tree</a:t>
            </a:r>
            <a:r>
              <a:rPr lang="ko-KR" altLang="en-US"/>
              <a:t>이거나 부드럽고 따뜻한 </a:t>
            </a:r>
            <a:r>
              <a:rPr lang="en-US" altLang="ko-KR"/>
              <a:t>Wool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615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상품 목록 페이지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6) </a:t>
            </a:r>
            <a:r>
              <a:rPr lang="ko-KR" altLang="en-US" sz="2000" b="1"/>
              <a:t>정렬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ko-KR" altLang="en-US" sz="1800"/>
              <a:t>정렬은 추천순</a:t>
            </a:r>
            <a:r>
              <a:rPr lang="en-US" altLang="ko-KR" sz="1800"/>
              <a:t>, </a:t>
            </a:r>
            <a:r>
              <a:rPr lang="ko-KR" altLang="en-US" sz="1800"/>
              <a:t>판매순</a:t>
            </a:r>
            <a:r>
              <a:rPr lang="en-US" altLang="ko-KR" sz="1800"/>
              <a:t>, </a:t>
            </a:r>
            <a:r>
              <a:rPr lang="ko-KR" altLang="en-US" sz="1800"/>
              <a:t>가격 낮은 순</a:t>
            </a:r>
            <a:r>
              <a:rPr lang="en-US" altLang="ko-KR" sz="1800"/>
              <a:t>, </a:t>
            </a:r>
            <a:r>
              <a:rPr lang="ko-KR" altLang="en-US" sz="1800"/>
              <a:t>가격 높은 순</a:t>
            </a:r>
            <a:r>
              <a:rPr lang="en-US" altLang="ko-KR" sz="1800"/>
              <a:t>, </a:t>
            </a:r>
            <a:r>
              <a:rPr lang="ko-KR" altLang="en-US" sz="1800"/>
              <a:t>최신 등록 순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r>
              <a:rPr lang="ko-KR" altLang="en-US" sz="2000" b="1"/>
              <a:t>사전데이터</a:t>
            </a:r>
            <a:endParaRPr lang="en-US" altLang="ko-KR" b="1"/>
          </a:p>
          <a:p>
            <a:pPr lvl="1">
              <a:lnSpc>
                <a:spcPct val="150000"/>
              </a:lnSpc>
            </a:pPr>
            <a:r>
              <a:rPr lang="ko-KR" altLang="en-US" sz="1800"/>
              <a:t>필터링과 정렬을 보여줄 수 있도록 적절한 데이터를 사전에 </a:t>
            </a:r>
            <a:r>
              <a:rPr lang="en-US" altLang="ko-KR" sz="1800"/>
              <a:t>DB</a:t>
            </a:r>
            <a:r>
              <a:rPr lang="ko-KR" altLang="en-US" sz="1800"/>
              <a:t>에 저장한다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5F2B023-8320-4C42-ACF8-DB6D14D09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833" y="1657311"/>
            <a:ext cx="6892034" cy="198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7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상품 상세 페이지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7) </a:t>
            </a:r>
            <a:r>
              <a:rPr lang="ko-KR" altLang="en-US" sz="2000" b="1"/>
              <a:t>상세페이지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r>
              <a:rPr lang="ko-KR" altLang="en-US" sz="2000" b="1"/>
              <a:t> 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ko-KR" altLang="en-US" sz="1800"/>
              <a:t>아래의 붉은색 테두리 내용은 화면에서 </a:t>
            </a:r>
            <a:r>
              <a:rPr lang="ko-KR" altLang="en-US" sz="1800">
                <a:solidFill>
                  <a:srgbClr val="FF0000"/>
                </a:solidFill>
              </a:rPr>
              <a:t>제외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8728A89-6DA4-4F7F-9F7C-01B2E0446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40" y="1543462"/>
            <a:ext cx="6491193" cy="522987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D5479C8-531E-40F5-B135-6EB54D7674C4}"/>
              </a:ext>
            </a:extLst>
          </p:cNvPr>
          <p:cNvSpPr/>
          <p:nvPr/>
        </p:nvSpPr>
        <p:spPr>
          <a:xfrm>
            <a:off x="5161817" y="1737906"/>
            <a:ext cx="1205115" cy="262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CA9FF2D-9439-49A0-915F-CCED980D0B3D}"/>
              </a:ext>
            </a:extLst>
          </p:cNvPr>
          <p:cNvSpPr/>
          <p:nvPr/>
        </p:nvSpPr>
        <p:spPr>
          <a:xfrm>
            <a:off x="5161817" y="3166533"/>
            <a:ext cx="2119516" cy="186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E36FDE-BCD7-4408-9D5A-9825F46505B9}"/>
              </a:ext>
            </a:extLst>
          </p:cNvPr>
          <p:cNvSpPr txBox="1"/>
          <p:nvPr/>
        </p:nvSpPr>
        <p:spPr>
          <a:xfrm>
            <a:off x="7591360" y="3075000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색상 정보 없음</a:t>
            </a:r>
            <a:r>
              <a:rPr lang="en-US" altLang="ko-KR"/>
              <a:t>. </a:t>
            </a:r>
            <a:r>
              <a:rPr lang="ko-KR" altLang="en-US"/>
              <a:t>이미지만 보이기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EC2A33-F055-430E-A6FB-4D121CDD02C6}"/>
              </a:ext>
            </a:extLst>
          </p:cNvPr>
          <p:cNvSpPr/>
          <p:nvPr/>
        </p:nvSpPr>
        <p:spPr>
          <a:xfrm>
            <a:off x="1800550" y="4665133"/>
            <a:ext cx="2441250" cy="380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F724A2-E8FB-4D2F-BE4A-89EEF0782F26}"/>
              </a:ext>
            </a:extLst>
          </p:cNvPr>
          <p:cNvSpPr txBox="1"/>
          <p:nvPr/>
        </p:nvSpPr>
        <p:spPr>
          <a:xfrm>
            <a:off x="0" y="4532466"/>
            <a:ext cx="1701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슬라이더 없음</a:t>
            </a:r>
            <a:endParaRPr lang="en-US" altLang="ko-KR" sz="1400"/>
          </a:p>
          <a:p>
            <a:r>
              <a:rPr lang="ko-KR" altLang="en-US" sz="1400"/>
              <a:t>클릭한 이미지 표시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115FEFD-2E5D-4F41-983A-A544121691CF}"/>
              </a:ext>
            </a:extLst>
          </p:cNvPr>
          <p:cNvSpPr/>
          <p:nvPr/>
        </p:nvSpPr>
        <p:spPr>
          <a:xfrm>
            <a:off x="5119483" y="5376333"/>
            <a:ext cx="2441250" cy="724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4DCE74-4298-49DF-897F-7296FD363CFC}"/>
              </a:ext>
            </a:extLst>
          </p:cNvPr>
          <p:cNvSpPr txBox="1"/>
          <p:nvPr/>
        </p:nvSpPr>
        <p:spPr>
          <a:xfrm>
            <a:off x="2461629" y="5738466"/>
            <a:ext cx="1920719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400"/>
              <a:t>아코디언 </a:t>
            </a:r>
            <a:r>
              <a:rPr lang="en-US" altLang="ko-KR" sz="1400"/>
              <a:t>UI</a:t>
            </a:r>
            <a:r>
              <a:rPr lang="ko-KR" altLang="en-US" sz="1400"/>
              <a:t>는 구현</a:t>
            </a:r>
            <a:endParaRPr lang="en-US" altLang="ko-KR" sz="1400"/>
          </a:p>
          <a:p>
            <a:r>
              <a:rPr lang="ko-KR" altLang="en-US" sz="1400"/>
              <a:t>다만 안에 내용은 고정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A8BB19-4D78-4D8B-8BAF-088FEA2A2158}"/>
              </a:ext>
            </a:extLst>
          </p:cNvPr>
          <p:cNvSpPr txBox="1"/>
          <p:nvPr/>
        </p:nvSpPr>
        <p:spPr>
          <a:xfrm>
            <a:off x="7591360" y="4266967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여성 필터링은 없음</a:t>
            </a:r>
          </a:p>
        </p:txBody>
      </p:sp>
    </p:spTree>
    <p:extLst>
      <p:ext uri="{BB962C8B-B14F-4D97-AF65-F5344CB8AC3E}">
        <p14:creationId xmlns:p14="http://schemas.microsoft.com/office/powerpoint/2010/main" val="4053399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상품 상세 페이지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7) </a:t>
            </a:r>
            <a:r>
              <a:rPr lang="ko-KR" altLang="en-US" sz="2000" b="1"/>
              <a:t>상세페이지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ko-KR" altLang="en-US" sz="1800"/>
              <a:t>상세페이지는 좌측에 있는 요소만 보이게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8728A89-6DA4-4F7F-9F7C-01B2E0446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607" y="443397"/>
            <a:ext cx="3705660" cy="298560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0B73975-2F10-4DA5-8E84-55F6B6F6D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607" y="3515369"/>
            <a:ext cx="3705660" cy="10096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D638EF5-21DD-4952-87B4-6529C3122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607" y="4611338"/>
            <a:ext cx="3705660" cy="145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70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상품 상세 페이지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8) </a:t>
            </a:r>
            <a:r>
              <a:rPr lang="ko-KR" altLang="en-US" sz="2000" b="1"/>
              <a:t>장바구니 담기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ko-KR" altLang="en-US" sz="1800"/>
              <a:t>사이즈 선택시 장바구니 담기 버튼 표시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클릭 시 좌측에 장바구니 현황 자동 표시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동일한 제품이 장바구니에 있을 경우</a:t>
            </a:r>
            <a:r>
              <a:rPr lang="en-US" altLang="ko-KR" sz="1800"/>
              <a:t>, </a:t>
            </a:r>
            <a:r>
              <a:rPr lang="ko-KR" altLang="en-US" sz="1800"/>
              <a:t>수량 추가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1DDAD26-B26C-4D1C-8E58-123E703F0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926" y="2601651"/>
            <a:ext cx="4067743" cy="409632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164FD01-B317-4E28-BF45-E63967DA8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818" y="160027"/>
            <a:ext cx="4067744" cy="644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67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상품 상세 페이지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940573"/>
          </a:xfrm>
        </p:spPr>
        <p:txBody>
          <a:bodyPr>
            <a:normAutofit/>
          </a:bodyPr>
          <a:lstStyle/>
          <a:p>
            <a:r>
              <a:rPr lang="en-US" altLang="ko-KR" sz="2000" b="1"/>
              <a:t>9) </a:t>
            </a:r>
            <a:r>
              <a:rPr lang="ko-KR" altLang="en-US" sz="2000" b="1"/>
              <a:t>결제 클릭 후 마이페이지에 지난 주문 내역 표시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ko-KR" altLang="en-US" sz="1800"/>
              <a:t>결제 버튼을 클릭하면 장바구니 비우기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마이페이지에 지난 주문 내역에 주문 내역을 제품별로 표시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구매 완료 제품에 대해선 리뷰 작성이 가능해야 함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아래의 </a:t>
            </a:r>
            <a:r>
              <a:rPr lang="en-US" altLang="ko-KR" sz="1800"/>
              <a:t>UI</a:t>
            </a:r>
            <a:r>
              <a:rPr lang="ko-KR" altLang="en-US" sz="1800"/>
              <a:t>를 참고하여 팀별로 자율적으로 마이 페이지 지난 주문 내역 구현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825E529-86A4-4FC5-A108-84F9B8A79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486" y="3124197"/>
            <a:ext cx="8528782" cy="230375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4EA426E-1BAD-4223-956E-EAEC0E56948D}"/>
              </a:ext>
            </a:extLst>
          </p:cNvPr>
          <p:cNvSpPr/>
          <p:nvPr/>
        </p:nvSpPr>
        <p:spPr>
          <a:xfrm>
            <a:off x="2921002" y="3589864"/>
            <a:ext cx="5867400" cy="864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rgbClr val="0000CC"/>
                </a:solidFill>
              </a:rPr>
              <a:t>제품명</a:t>
            </a:r>
            <a:r>
              <a:rPr lang="en-US" altLang="ko-KR" sz="1200">
                <a:solidFill>
                  <a:srgbClr val="0000CC"/>
                </a:solidFill>
              </a:rPr>
              <a:t>: </a:t>
            </a:r>
            <a:r>
              <a:rPr lang="ko-KR" altLang="en-US" sz="1200">
                <a:solidFill>
                  <a:srgbClr val="0000CC"/>
                </a:solidFill>
              </a:rPr>
              <a:t>가벼운 신발</a:t>
            </a:r>
            <a:r>
              <a:rPr lang="en-US" altLang="ko-KR" sz="1200">
                <a:solidFill>
                  <a:srgbClr val="0000CC"/>
                </a:solidFill>
              </a:rPr>
              <a:t>                              </a:t>
            </a:r>
            <a:r>
              <a:rPr lang="ko-KR" altLang="en-US" sz="1200">
                <a:solidFill>
                  <a:srgbClr val="0000CC"/>
                </a:solidFill>
              </a:rPr>
              <a:t>수량</a:t>
            </a:r>
            <a:r>
              <a:rPr lang="en-US" altLang="ko-KR" sz="1200">
                <a:solidFill>
                  <a:srgbClr val="0000CC"/>
                </a:solidFill>
              </a:rPr>
              <a:t>: 2</a:t>
            </a:r>
            <a:r>
              <a:rPr lang="ko-KR" altLang="en-US" sz="1200">
                <a:solidFill>
                  <a:srgbClr val="0000CC"/>
                </a:solidFill>
              </a:rPr>
              <a:t>개</a:t>
            </a:r>
            <a:endParaRPr lang="en-US" altLang="ko-KR" sz="1200">
              <a:solidFill>
                <a:srgbClr val="0000CC"/>
              </a:solidFill>
            </a:endParaRPr>
          </a:p>
          <a:p>
            <a:r>
              <a:rPr lang="ko-KR" altLang="en-US" sz="1200">
                <a:solidFill>
                  <a:srgbClr val="0000CC"/>
                </a:solidFill>
              </a:rPr>
              <a:t>결제금액</a:t>
            </a:r>
            <a:r>
              <a:rPr lang="en-US" altLang="ko-KR" sz="1200">
                <a:solidFill>
                  <a:srgbClr val="0000CC"/>
                </a:solidFill>
              </a:rPr>
              <a:t>: 167,000</a:t>
            </a:r>
            <a:r>
              <a:rPr lang="ko-KR" altLang="en-US" sz="1200">
                <a:solidFill>
                  <a:srgbClr val="0000CC"/>
                </a:solidFill>
              </a:rPr>
              <a:t>원</a:t>
            </a:r>
            <a:r>
              <a:rPr lang="en-US" altLang="ko-KR" sz="1200">
                <a:solidFill>
                  <a:srgbClr val="0000CC"/>
                </a:solidFill>
              </a:rPr>
              <a:t>                              </a:t>
            </a:r>
            <a:r>
              <a:rPr lang="ko-KR" altLang="en-US" sz="1200">
                <a:solidFill>
                  <a:srgbClr val="0000CC"/>
                </a:solidFill>
              </a:rPr>
              <a:t>결제일</a:t>
            </a:r>
            <a:r>
              <a:rPr lang="en-US" altLang="ko-KR" sz="1200">
                <a:solidFill>
                  <a:srgbClr val="0000CC"/>
                </a:solidFill>
              </a:rPr>
              <a:t>: 2025-10-29</a:t>
            </a:r>
          </a:p>
          <a:p>
            <a:endParaRPr lang="en-US" altLang="ko-KR" sz="1200">
              <a:solidFill>
                <a:srgbClr val="0000CC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A0D0D9A-F7E1-4662-81F2-AC7FDE6DBA9E}"/>
              </a:ext>
            </a:extLst>
          </p:cNvPr>
          <p:cNvSpPr/>
          <p:nvPr/>
        </p:nvSpPr>
        <p:spPr>
          <a:xfrm>
            <a:off x="3014134" y="4157540"/>
            <a:ext cx="1303867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후기작성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B29C81A-519E-4FD7-A41D-F0BD72E73841}"/>
              </a:ext>
            </a:extLst>
          </p:cNvPr>
          <p:cNvSpPr/>
          <p:nvPr/>
        </p:nvSpPr>
        <p:spPr>
          <a:xfrm>
            <a:off x="2929466" y="4504262"/>
            <a:ext cx="5867400" cy="864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rgbClr val="0000CC"/>
                </a:solidFill>
              </a:rPr>
              <a:t>제품명</a:t>
            </a:r>
            <a:r>
              <a:rPr lang="en-US" altLang="ko-KR" sz="1200">
                <a:solidFill>
                  <a:srgbClr val="0000CC"/>
                </a:solidFill>
              </a:rPr>
              <a:t>: </a:t>
            </a:r>
            <a:r>
              <a:rPr lang="ko-KR" altLang="en-US" sz="1200">
                <a:solidFill>
                  <a:srgbClr val="0000CC"/>
                </a:solidFill>
              </a:rPr>
              <a:t>시원한 신발</a:t>
            </a:r>
            <a:r>
              <a:rPr lang="en-US" altLang="ko-KR" sz="1200">
                <a:solidFill>
                  <a:srgbClr val="0000CC"/>
                </a:solidFill>
              </a:rPr>
              <a:t>                              </a:t>
            </a:r>
            <a:r>
              <a:rPr lang="ko-KR" altLang="en-US" sz="1200">
                <a:solidFill>
                  <a:srgbClr val="0000CC"/>
                </a:solidFill>
              </a:rPr>
              <a:t>수량</a:t>
            </a:r>
            <a:r>
              <a:rPr lang="en-US" altLang="ko-KR" sz="1200">
                <a:solidFill>
                  <a:srgbClr val="0000CC"/>
                </a:solidFill>
              </a:rPr>
              <a:t>: 1</a:t>
            </a:r>
            <a:r>
              <a:rPr lang="ko-KR" altLang="en-US" sz="1200">
                <a:solidFill>
                  <a:srgbClr val="0000CC"/>
                </a:solidFill>
              </a:rPr>
              <a:t>개</a:t>
            </a:r>
            <a:endParaRPr lang="en-US" altLang="ko-KR" sz="1200">
              <a:solidFill>
                <a:srgbClr val="0000CC"/>
              </a:solidFill>
            </a:endParaRPr>
          </a:p>
          <a:p>
            <a:r>
              <a:rPr lang="ko-KR" altLang="en-US" sz="1200">
                <a:solidFill>
                  <a:srgbClr val="0000CC"/>
                </a:solidFill>
              </a:rPr>
              <a:t>결제금액</a:t>
            </a:r>
            <a:r>
              <a:rPr lang="en-US" altLang="ko-KR" sz="1200">
                <a:solidFill>
                  <a:srgbClr val="0000CC"/>
                </a:solidFill>
              </a:rPr>
              <a:t>: 167,000</a:t>
            </a:r>
            <a:r>
              <a:rPr lang="ko-KR" altLang="en-US" sz="1200">
                <a:solidFill>
                  <a:srgbClr val="0000CC"/>
                </a:solidFill>
              </a:rPr>
              <a:t>원</a:t>
            </a:r>
            <a:r>
              <a:rPr lang="en-US" altLang="ko-KR" sz="1200">
                <a:solidFill>
                  <a:srgbClr val="0000CC"/>
                </a:solidFill>
              </a:rPr>
              <a:t>                              </a:t>
            </a:r>
            <a:r>
              <a:rPr lang="ko-KR" altLang="en-US" sz="1200">
                <a:solidFill>
                  <a:srgbClr val="0000CC"/>
                </a:solidFill>
              </a:rPr>
              <a:t>결제일</a:t>
            </a:r>
            <a:r>
              <a:rPr lang="en-US" altLang="ko-KR" sz="1200">
                <a:solidFill>
                  <a:srgbClr val="0000CC"/>
                </a:solidFill>
              </a:rPr>
              <a:t>: 2025-10-29</a:t>
            </a:r>
          </a:p>
          <a:p>
            <a:endParaRPr lang="en-US" altLang="ko-KR" sz="1200">
              <a:solidFill>
                <a:srgbClr val="0000CC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870C734-D6BB-4487-BB66-89A0889441D0}"/>
              </a:ext>
            </a:extLst>
          </p:cNvPr>
          <p:cNvSpPr/>
          <p:nvPr/>
        </p:nvSpPr>
        <p:spPr>
          <a:xfrm>
            <a:off x="3022598" y="5071938"/>
            <a:ext cx="1303867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후기작성</a:t>
            </a:r>
          </a:p>
        </p:txBody>
      </p:sp>
    </p:spTree>
    <p:extLst>
      <p:ext uri="{BB962C8B-B14F-4D97-AF65-F5344CB8AC3E}">
        <p14:creationId xmlns:p14="http://schemas.microsoft.com/office/powerpoint/2010/main" val="3216943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상품 상세 페이지</a:t>
            </a:r>
            <a:r>
              <a:rPr lang="en-US" altLang="ko-KR" sz="2800"/>
              <a:t>(</a:t>
            </a:r>
            <a:r>
              <a:rPr lang="ko-KR" altLang="en-US" sz="2800">
                <a:solidFill>
                  <a:srgbClr val="FF0000"/>
                </a:solidFill>
              </a:rPr>
              <a:t>수정</a:t>
            </a:r>
            <a:r>
              <a:rPr lang="en-US" altLang="ko-KR" sz="2800"/>
              <a:t>)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940573"/>
          </a:xfrm>
        </p:spPr>
        <p:txBody>
          <a:bodyPr>
            <a:normAutofit/>
          </a:bodyPr>
          <a:lstStyle/>
          <a:p>
            <a:r>
              <a:rPr lang="en-US" altLang="ko-KR" sz="2000" b="1"/>
              <a:t>10) </a:t>
            </a:r>
            <a:r>
              <a:rPr lang="ko-KR" altLang="en-US" sz="2000" b="1"/>
              <a:t>후기 입력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en-US" altLang="ko-KR" sz="1800"/>
              <a:t>1~5</a:t>
            </a:r>
            <a:r>
              <a:rPr lang="ko-KR" altLang="en-US" sz="1800"/>
              <a:t>점의 별점과 텍스트 후기를 입력할 수 있는 창에서 후기 입력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후기 입력 후</a:t>
            </a:r>
            <a:r>
              <a:rPr lang="en-US" altLang="ko-KR" sz="1800"/>
              <a:t>,</a:t>
            </a:r>
            <a:r>
              <a:rPr lang="ko-KR" altLang="en-US" sz="1800"/>
              <a:t> 제품에 들어갔을 때 해당 후기가 보이는지 확인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사진 첨부는 생략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>
                <a:solidFill>
                  <a:srgbClr val="FF0000"/>
                </a:solidFill>
              </a:rPr>
              <a:t>후기는</a:t>
            </a:r>
            <a:r>
              <a:rPr lang="en-US" altLang="ko-KR" sz="1800">
                <a:solidFill>
                  <a:srgbClr val="FF0000"/>
                </a:solidFill>
              </a:rPr>
              <a:t> 3</a:t>
            </a:r>
            <a:r>
              <a:rPr lang="ko-KR" altLang="en-US" sz="1800">
                <a:solidFill>
                  <a:srgbClr val="FF0000"/>
                </a:solidFill>
              </a:rPr>
              <a:t>개 이하만 입력하여 페이지네이션 구현하지 않아도 됨</a:t>
            </a:r>
            <a:endParaRPr lang="en-US" altLang="ko-KR" sz="180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71F8FED-CCFB-4192-89EC-19F8A6592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04766"/>
            <a:ext cx="12192000" cy="241273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0F5429A-2AA6-49B2-AD82-4FDBC9B6B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413" y="2468395"/>
            <a:ext cx="3572374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66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관리자페이지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940573"/>
          </a:xfrm>
        </p:spPr>
        <p:txBody>
          <a:bodyPr>
            <a:normAutofit/>
          </a:bodyPr>
          <a:lstStyle/>
          <a:p>
            <a:r>
              <a:rPr lang="ko-KR" altLang="en-US" sz="2000" b="1"/>
              <a:t>관리자 페이지 디자인은 팀에서 결정하며 디자인은 평가요소가 아니므로 아래의 기능을 보일 수 있도록 한다</a:t>
            </a:r>
            <a:r>
              <a:rPr lang="en-US" altLang="ko-KR" sz="2000" b="1"/>
              <a:t>.</a:t>
            </a:r>
          </a:p>
          <a:p>
            <a:endParaRPr lang="en-US" altLang="ko-KR" sz="2000" b="1"/>
          </a:p>
          <a:p>
            <a:r>
              <a:rPr lang="en-US" altLang="ko-KR" sz="2000" b="1"/>
              <a:t>11) </a:t>
            </a:r>
            <a:r>
              <a:rPr lang="ko-KR" altLang="en-US" sz="2000" b="1"/>
              <a:t>가용사이즈 변경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r>
              <a:rPr lang="en-US" altLang="ko-KR" sz="2000" b="1"/>
              <a:t>12) </a:t>
            </a:r>
            <a:r>
              <a:rPr lang="ko-KR" altLang="en-US" sz="2000" b="1"/>
              <a:t>할인정책 변경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관리자는 로그인 후 상품관리 페이지에서 등록된 상품정보를 확인할 수 있고</a:t>
            </a:r>
            <a:r>
              <a:rPr lang="en-US" altLang="ko-KR" sz="1800"/>
              <a:t>, </a:t>
            </a:r>
            <a:r>
              <a:rPr lang="ko-KR" altLang="en-US" sz="1800"/>
              <a:t>가용사이즈와 할인율을 수정할 수 있다</a:t>
            </a:r>
            <a:r>
              <a:rPr lang="en-US" altLang="ko-KR" sz="1800"/>
              <a:t>.</a:t>
            </a:r>
          </a:p>
          <a:p>
            <a:r>
              <a:rPr lang="en-US" altLang="ko-KR" sz="2000" b="1"/>
              <a:t>13) </a:t>
            </a:r>
            <a:r>
              <a:rPr lang="ko-KR" altLang="en-US" sz="2000" b="1"/>
              <a:t>상품등록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관리자는 로그인 후 상품관리 페이지에서 새로운 상품을 등록할 수 있다</a:t>
            </a:r>
            <a:r>
              <a:rPr lang="en-US" altLang="ko-KR" sz="180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800"/>
              <a:t>사진은 반드시 포함되어야 한다</a:t>
            </a:r>
            <a:r>
              <a:rPr lang="en-US" altLang="ko-KR" sz="1800"/>
              <a:t>.</a:t>
            </a:r>
            <a:endParaRPr lang="en-US" altLang="ko-KR" sz="2000" b="1"/>
          </a:p>
          <a:p>
            <a:r>
              <a:rPr lang="en-US" altLang="ko-KR" sz="2000" b="1"/>
              <a:t>14) </a:t>
            </a:r>
            <a:r>
              <a:rPr lang="ko-KR" altLang="en-US" sz="2000" b="1"/>
              <a:t>판매현황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각 제품의 판매수량</a:t>
            </a:r>
            <a:r>
              <a:rPr lang="en-US" altLang="ko-KR" sz="1800"/>
              <a:t>, </a:t>
            </a:r>
            <a:r>
              <a:rPr lang="ko-KR" altLang="en-US" sz="1800"/>
              <a:t>매출이 표시되어야 함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조회 기간 필터링을 제공해야 함</a:t>
            </a:r>
            <a:r>
              <a:rPr lang="en-US" altLang="ko-KR" sz="1800"/>
              <a:t>(</a:t>
            </a:r>
            <a:r>
              <a:rPr lang="ko-KR" altLang="en-US" sz="1800"/>
              <a:t>시작일과</a:t>
            </a:r>
            <a:r>
              <a:rPr lang="en-US" altLang="ko-KR" sz="1800"/>
              <a:t> </a:t>
            </a:r>
            <a:r>
              <a:rPr lang="ko-KR" altLang="en-US" sz="1800"/>
              <a:t>종료일을 설정할 수 있음</a:t>
            </a:r>
            <a:r>
              <a:rPr lang="en-US" altLang="ko-KR" sz="180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1800"/>
              <a:t>매출은 할인율이 적용된 금액이어야 함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42467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평가사항 정리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94057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화면과 동일한 헤더 만들기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렌딩페이지 이미지 슬라이드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렌딩 페이지 동일하게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상품 목록 페이지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상품 목록 페이지 필터링 조건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정렬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상세페이지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 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장바구니 담기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결제 클릭 후 마이페이지에 지난 주문 내역 표시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후기 입력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가용사이즈 변경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할인정책 변경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상품등록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판매현황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417385-3903-4C22-9E06-824364FFD9F7}"/>
              </a:ext>
            </a:extLst>
          </p:cNvPr>
          <p:cNvSpPr txBox="1"/>
          <p:nvPr/>
        </p:nvSpPr>
        <p:spPr>
          <a:xfrm>
            <a:off x="5367867" y="872067"/>
            <a:ext cx="5071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1,2,3</a:t>
            </a:r>
            <a:r>
              <a:rPr lang="ko-KR" altLang="en-US"/>
              <a:t>을 제외하면</a:t>
            </a:r>
            <a:endParaRPr lang="en-US" altLang="ko-KR"/>
          </a:p>
          <a:p>
            <a:r>
              <a:rPr lang="ko-KR" altLang="en-US"/>
              <a:t>모든 기능은 서버로부터 데이터로 동작해야 함</a:t>
            </a:r>
            <a:endParaRPr lang="en-US" altLang="ko-KR"/>
          </a:p>
          <a:p>
            <a:r>
              <a:rPr lang="ko-KR" altLang="en-US"/>
              <a:t>단</a:t>
            </a:r>
            <a:r>
              <a:rPr lang="en-US" altLang="ko-KR"/>
              <a:t>, 6</a:t>
            </a:r>
            <a:r>
              <a:rPr lang="ko-KR" altLang="en-US"/>
              <a:t>번 정렬은 서버로부터 받아 저장된 프론트엔드 데이터로 수행</a:t>
            </a:r>
          </a:p>
        </p:txBody>
      </p:sp>
    </p:spTree>
    <p:extLst>
      <p:ext uri="{BB962C8B-B14F-4D97-AF65-F5344CB8AC3E}">
        <p14:creationId xmlns:p14="http://schemas.microsoft.com/office/powerpoint/2010/main" val="2492392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구현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9405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/>
              <a:t>프론트엔드</a:t>
            </a:r>
            <a:endParaRPr lang="en-US" altLang="ko-KR" sz="2000" b="1"/>
          </a:p>
          <a:p>
            <a:pPr lvl="1">
              <a:lnSpc>
                <a:spcPct val="150000"/>
              </a:lnSpc>
            </a:pPr>
            <a:r>
              <a:rPr lang="ko-KR" altLang="en-US" sz="1600"/>
              <a:t>리액트</a:t>
            </a:r>
            <a:endParaRPr lang="en-US" altLang="ko-KR" sz="1600"/>
          </a:p>
          <a:p>
            <a:pPr lvl="1">
              <a:lnSpc>
                <a:spcPct val="150000"/>
              </a:lnSpc>
            </a:pPr>
            <a:r>
              <a:rPr lang="en-US" altLang="ko-KR" sz="1600"/>
              <a:t>CSS</a:t>
            </a:r>
            <a:r>
              <a:rPr lang="ko-KR" altLang="en-US" sz="1600"/>
              <a:t> 프레임워크</a:t>
            </a:r>
            <a:r>
              <a:rPr lang="en-US" altLang="ko-KR" sz="1600"/>
              <a:t>(ex.</a:t>
            </a:r>
            <a:r>
              <a:rPr lang="ko-KR" altLang="en-US" sz="1600"/>
              <a:t> </a:t>
            </a:r>
            <a:r>
              <a:rPr lang="en-US" altLang="ko-KR" sz="1600"/>
              <a:t>Bootstrap, MUI)</a:t>
            </a:r>
            <a:r>
              <a:rPr lang="ko-KR" altLang="en-US" sz="1600"/>
              <a:t> 사용 금지</a:t>
            </a:r>
            <a:r>
              <a:rPr lang="en-US" altLang="ko-KR" sz="1600"/>
              <a:t>, </a:t>
            </a:r>
            <a:r>
              <a:rPr lang="ko-KR" altLang="en-US" sz="1600"/>
              <a:t>순수 </a:t>
            </a:r>
            <a:r>
              <a:rPr lang="en-US" altLang="ko-KR" sz="1600"/>
              <a:t>CSS</a:t>
            </a:r>
            <a:r>
              <a:rPr lang="ko-KR" altLang="en-US" sz="1600"/>
              <a:t>로 구현</a:t>
            </a:r>
            <a:endParaRPr lang="en-US" altLang="ko-KR" sz="1600"/>
          </a:p>
          <a:p>
            <a:pPr lvl="1">
              <a:lnSpc>
                <a:spcPct val="150000"/>
              </a:lnSpc>
            </a:pPr>
            <a:r>
              <a:rPr lang="en-US" altLang="ko-KR" sz="1600"/>
              <a:t>Styled-Component </a:t>
            </a:r>
            <a:r>
              <a:rPr lang="ko-KR" altLang="en-US" sz="1600"/>
              <a:t>사용</a:t>
            </a:r>
            <a:endParaRPr lang="en-US" altLang="ko-KR" sz="1600"/>
          </a:p>
          <a:p>
            <a:pPr>
              <a:lnSpc>
                <a:spcPct val="150000"/>
              </a:lnSpc>
            </a:pPr>
            <a:r>
              <a:rPr lang="ko-KR" altLang="en-US" sz="2000" b="1"/>
              <a:t>백엔드</a:t>
            </a:r>
            <a:endParaRPr lang="en-US" altLang="ko-KR" sz="2000" b="1"/>
          </a:p>
          <a:p>
            <a:pPr lvl="1">
              <a:lnSpc>
                <a:spcPct val="150000"/>
              </a:lnSpc>
            </a:pPr>
            <a:r>
              <a:rPr lang="en-US" altLang="ko-KR" sz="1800"/>
              <a:t>Express</a:t>
            </a:r>
          </a:p>
          <a:p>
            <a:pPr lvl="1">
              <a:lnSpc>
                <a:spcPct val="150000"/>
              </a:lnSpc>
            </a:pPr>
            <a:r>
              <a:rPr lang="en-US" altLang="ko-KR" sz="1800"/>
              <a:t>DB</a:t>
            </a:r>
            <a:r>
              <a:rPr lang="ko-KR" altLang="en-US" sz="1800"/>
              <a:t>는 팀에서 결정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검사시 서버는 로컬에서 실행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인증은 세션기반으로 구현</a:t>
            </a: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067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사전 데이터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9405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b="1"/>
              <a:t>라이프 스타일과 슬립온 신발 각각 </a:t>
            </a:r>
            <a:r>
              <a:rPr lang="en-US" altLang="ko-KR" sz="1800" b="1"/>
              <a:t>10</a:t>
            </a:r>
            <a:r>
              <a:rPr lang="ko-KR" altLang="en-US" sz="1800" b="1"/>
              <a:t>개 이상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각 제품별 이미지는 최소 </a:t>
            </a:r>
            <a:r>
              <a:rPr lang="en-US" altLang="ko-KR" sz="1800" b="1"/>
              <a:t>2</a:t>
            </a:r>
            <a:r>
              <a:rPr lang="ko-KR" altLang="en-US" sz="1800" b="1"/>
              <a:t>개 이상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각 신발의 가용사이즈와 소재는 필터링 시 보여줄 수 있도록 다양하게 구성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관리자 페이지에서 제품별 판매수량과 매출을 확인할 수 있도록 사전 데이터 입력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새로운 제품 등록 시연을 위한 제품 정보 및 이미지 준비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941082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검사순서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9405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b="1"/>
              <a:t>고객 로그인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en-US" altLang="ko-KR" sz="1800" b="1"/>
              <a:t>1~4</a:t>
            </a:r>
            <a:r>
              <a:rPr lang="ko-KR" altLang="en-US" sz="1800" b="1"/>
              <a:t>번 차례로 보이기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상품 목록 페이지 필터링 시연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상품 목록 페이지 정렬</a:t>
            </a:r>
            <a:r>
              <a:rPr lang="en-US" altLang="ko-KR" sz="1800" b="1"/>
              <a:t> </a:t>
            </a:r>
            <a:r>
              <a:rPr lang="ko-KR" altLang="en-US" sz="1800" b="1"/>
              <a:t>시연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특정 제품 클릭하여 상세페이지 보이기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장바구니 담기를 클릭했을 때 사이드바 표시 </a:t>
            </a:r>
            <a:r>
              <a:rPr lang="en-US" altLang="ko-KR" sz="1800" b="1"/>
              <a:t>-&gt; </a:t>
            </a:r>
            <a:r>
              <a:rPr lang="ko-KR" altLang="en-US" sz="1800" b="1"/>
              <a:t>사이드바 닫고 한 번더 클릭</a:t>
            </a:r>
            <a:r>
              <a:rPr lang="en-US" altLang="ko-KR" sz="1800" b="1"/>
              <a:t>(</a:t>
            </a:r>
            <a:r>
              <a:rPr lang="ko-KR" altLang="en-US" sz="1800" b="1"/>
              <a:t>수량 변경 확인</a:t>
            </a:r>
            <a:r>
              <a:rPr lang="en-US" altLang="ko-KR" sz="1800" b="1"/>
              <a:t>)</a:t>
            </a:r>
            <a:r>
              <a:rPr lang="ko-KR" altLang="en-US" sz="1800" b="1"/>
              <a:t> </a:t>
            </a:r>
            <a:r>
              <a:rPr lang="en-US" altLang="ko-KR" sz="1800" b="1"/>
              <a:t>-&gt; </a:t>
            </a:r>
            <a:r>
              <a:rPr lang="ko-KR" altLang="en-US" sz="1800" b="1"/>
              <a:t>목록페이지에서 다른 상품에 들어가서 장바구니 담기 </a:t>
            </a:r>
            <a:r>
              <a:rPr lang="en-US" altLang="ko-KR" sz="1800" b="1"/>
              <a:t>-&gt; </a:t>
            </a:r>
            <a:r>
              <a:rPr lang="ko-KR" altLang="en-US" sz="1800" b="1"/>
              <a:t>둘 중 하나 삭제 </a:t>
            </a:r>
            <a:r>
              <a:rPr lang="en-US" altLang="ko-KR" sz="1800" b="1"/>
              <a:t>- &gt; </a:t>
            </a:r>
            <a:r>
              <a:rPr lang="ko-KR" altLang="en-US" sz="1800" b="1"/>
              <a:t>결제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마이페이지로 이동 후</a:t>
            </a:r>
            <a:r>
              <a:rPr lang="en-US" altLang="ko-KR" sz="1800" b="1"/>
              <a:t>, </a:t>
            </a:r>
            <a:r>
              <a:rPr lang="ko-KR" altLang="en-US" sz="1800" b="1"/>
              <a:t>이전 주문 내역 </a:t>
            </a:r>
            <a:r>
              <a:rPr lang="en-US" altLang="ko-KR" sz="1800" b="1"/>
              <a:t>1</a:t>
            </a:r>
            <a:r>
              <a:rPr lang="ko-KR" altLang="en-US" sz="1800" b="1"/>
              <a:t>개 이상 포함하여 방금 주문한 내역 보이기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후기 입력 후 해당 제품에 가서 입력된 후기 확인</a:t>
            </a:r>
            <a:endParaRPr lang="en-US" altLang="ko-KR" sz="1800" b="1"/>
          </a:p>
          <a:p>
            <a:pPr>
              <a:lnSpc>
                <a:spcPct val="150000"/>
              </a:lnSpc>
            </a:pPr>
            <a:endParaRPr lang="en-US" altLang="ko-KR" sz="1800" b="1"/>
          </a:p>
          <a:p>
            <a:pPr>
              <a:lnSpc>
                <a:spcPct val="150000"/>
              </a:lnSpc>
            </a:pPr>
            <a:endParaRPr lang="en-US" altLang="ko-KR" sz="1800" b="1"/>
          </a:p>
        </p:txBody>
      </p:sp>
    </p:spTree>
    <p:extLst>
      <p:ext uri="{BB962C8B-B14F-4D97-AF65-F5344CB8AC3E}">
        <p14:creationId xmlns:p14="http://schemas.microsoft.com/office/powerpoint/2010/main" val="3603198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검사순서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9405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b="1"/>
              <a:t>관리자 로그인 </a:t>
            </a:r>
            <a:r>
              <a:rPr lang="en-US" altLang="ko-KR" sz="1800" b="1"/>
              <a:t>-&gt; </a:t>
            </a:r>
            <a:r>
              <a:rPr lang="ko-KR" altLang="en-US" sz="1800" b="1"/>
              <a:t>관리자 페이지 이동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고객 페이지에서 제품 확인 </a:t>
            </a:r>
            <a:r>
              <a:rPr lang="en-US" altLang="ko-KR" sz="1800" b="1"/>
              <a:t>-&gt; </a:t>
            </a:r>
            <a:r>
              <a:rPr lang="ko-KR" altLang="en-US" sz="1800" b="1"/>
              <a:t>제품 목록 중 하나를 선택하여 가용사이즈 변경 </a:t>
            </a:r>
            <a:r>
              <a:rPr lang="en-US" altLang="ko-KR" sz="1800" b="1"/>
              <a:t>-&gt; </a:t>
            </a:r>
            <a:r>
              <a:rPr lang="ko-KR" altLang="en-US" sz="1800" b="1"/>
              <a:t>고객 페이지에서 확인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고객 페이지에서 제품 확인 </a:t>
            </a:r>
            <a:r>
              <a:rPr lang="en-US" altLang="ko-KR" sz="1800" b="1"/>
              <a:t>-&gt; </a:t>
            </a:r>
            <a:r>
              <a:rPr lang="ko-KR" altLang="en-US" sz="1800" b="1"/>
              <a:t>할인정책 변경 </a:t>
            </a:r>
            <a:r>
              <a:rPr lang="en-US" altLang="ko-KR" sz="1800" b="1"/>
              <a:t>-&gt; </a:t>
            </a:r>
            <a:r>
              <a:rPr lang="ko-KR" altLang="en-US" sz="1800" b="1"/>
              <a:t>고객 페이지에서 확인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상품 등록 </a:t>
            </a:r>
            <a:r>
              <a:rPr lang="en-US" altLang="ko-KR" sz="1800" b="1"/>
              <a:t>-&gt; </a:t>
            </a:r>
            <a:r>
              <a:rPr lang="ko-KR" altLang="en-US" sz="1800" b="1"/>
              <a:t>상품목록 리스트에서 등록된 상품 확인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판매현황 확인 </a:t>
            </a:r>
            <a:r>
              <a:rPr lang="en-US" altLang="ko-KR" sz="1800" b="1"/>
              <a:t>-&gt; </a:t>
            </a:r>
            <a:r>
              <a:rPr lang="ko-KR" altLang="en-US" sz="1800" b="1"/>
              <a:t>고객 페이지에서 방금 등록한 상품 주문 </a:t>
            </a:r>
            <a:r>
              <a:rPr lang="en-US" altLang="ko-KR" sz="1800" b="1"/>
              <a:t>-&gt;</a:t>
            </a:r>
            <a:r>
              <a:rPr lang="ko-KR" altLang="en-US" sz="1800" b="1"/>
              <a:t>  판매현황 확인하여 주문 반영 여부 확인 </a:t>
            </a:r>
            <a:r>
              <a:rPr lang="en-US" altLang="ko-KR" sz="1800" b="1"/>
              <a:t>-&gt; </a:t>
            </a:r>
            <a:r>
              <a:rPr lang="ko-KR" altLang="en-US" sz="1800" b="1"/>
              <a:t>기간 설정 후 필터링 수행 여부 확인</a:t>
            </a:r>
            <a:endParaRPr lang="en-US" altLang="ko-KR" sz="1800" b="1"/>
          </a:p>
          <a:p>
            <a:pPr>
              <a:lnSpc>
                <a:spcPct val="150000"/>
              </a:lnSpc>
            </a:pPr>
            <a:endParaRPr lang="en-US" altLang="ko-KR" sz="1800" b="1"/>
          </a:p>
        </p:txBody>
      </p:sp>
    </p:spTree>
    <p:extLst>
      <p:ext uri="{BB962C8B-B14F-4D97-AF65-F5344CB8AC3E}">
        <p14:creationId xmlns:p14="http://schemas.microsoft.com/office/powerpoint/2010/main" val="1370470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팀구성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9405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b="1"/>
              <a:t>3</a:t>
            </a:r>
            <a:r>
              <a:rPr lang="ko-KR" altLang="en-US" sz="1800" b="1"/>
              <a:t>인 </a:t>
            </a:r>
            <a:r>
              <a:rPr lang="en-US" altLang="ko-KR" sz="1800" b="1"/>
              <a:t>1</a:t>
            </a:r>
            <a:r>
              <a:rPr lang="ko-KR" altLang="en-US" sz="1800" b="1"/>
              <a:t>조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en-US" altLang="ko-KR" sz="1800" b="1"/>
              <a:t>3</a:t>
            </a:r>
            <a:r>
              <a:rPr lang="ko-KR" altLang="en-US" sz="1800" b="1"/>
              <a:t>인팀</a:t>
            </a:r>
            <a:r>
              <a:rPr lang="en-US" altLang="ko-KR" sz="1800" b="1"/>
              <a:t>, 2</a:t>
            </a:r>
            <a:r>
              <a:rPr lang="ko-KR" altLang="en-US" sz="1800" b="1"/>
              <a:t>인팀</a:t>
            </a:r>
            <a:r>
              <a:rPr lang="en-US" altLang="ko-KR" sz="1800" b="1"/>
              <a:t>, 1</a:t>
            </a:r>
            <a:r>
              <a:rPr lang="ko-KR" altLang="en-US" sz="1800" b="1"/>
              <a:t>인팀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en-US" altLang="ko-KR" sz="1800" b="1"/>
              <a:t>2</a:t>
            </a:r>
            <a:r>
              <a:rPr lang="ko-KR" altLang="en-US" sz="1800" b="1"/>
              <a:t>인팀과 </a:t>
            </a:r>
            <a:r>
              <a:rPr lang="en-US" altLang="ko-KR" sz="1800" b="1"/>
              <a:t>1</a:t>
            </a:r>
            <a:r>
              <a:rPr lang="ko-KR" altLang="en-US" sz="1800" b="1"/>
              <a:t>인팀은 임의로 배정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분반 내에서만 팀을 구성할 수 있음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제출기한</a:t>
            </a:r>
            <a:r>
              <a:rPr lang="en-US" altLang="ko-KR" sz="1800" b="1"/>
              <a:t>: 11</a:t>
            </a:r>
            <a:r>
              <a:rPr lang="ko-KR" altLang="en-US" sz="1800" b="1"/>
              <a:t>월 </a:t>
            </a:r>
            <a:r>
              <a:rPr lang="en-US" altLang="ko-KR" sz="1800" b="1"/>
              <a:t>10</a:t>
            </a:r>
            <a:r>
              <a:rPr lang="ko-KR" altLang="en-US" sz="1800" b="1"/>
              <a:t>일 자정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제출 방법</a:t>
            </a:r>
            <a:r>
              <a:rPr lang="en-US" altLang="ko-KR" sz="1800" b="1"/>
              <a:t>: </a:t>
            </a:r>
            <a:r>
              <a:rPr lang="ko-KR" altLang="en-US" sz="1800" b="1"/>
              <a:t>팀원 중 한 명이 대표로 과제 게시판에 정보를 기입한 파일 업로드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en-US" altLang="ko-KR" sz="1800" b="1"/>
              <a:t>1</a:t>
            </a:r>
            <a:r>
              <a:rPr lang="ko-KR" altLang="en-US" sz="1800" b="1"/>
              <a:t>인팀이라도 제출하지 않을 경우</a:t>
            </a:r>
            <a:r>
              <a:rPr lang="en-US" altLang="ko-KR" sz="1800" b="1"/>
              <a:t>,</a:t>
            </a:r>
            <a:r>
              <a:rPr lang="ko-KR" altLang="en-US" sz="1800" b="1"/>
              <a:t> </a:t>
            </a:r>
            <a:r>
              <a:rPr lang="ko-KR" altLang="en-US" sz="1800" b="1">
                <a:solidFill>
                  <a:srgbClr val="0000FF"/>
                </a:solidFill>
              </a:rPr>
              <a:t>텀프로젝트 포기로 간주</a:t>
            </a:r>
            <a:endParaRPr lang="en-US" altLang="ko-KR" sz="1800" b="1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3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2935</TotalTime>
  <Words>1255</Words>
  <Application>Microsoft Office PowerPoint</Application>
  <PresentationFormat>와이드스크린</PresentationFormat>
  <Paragraphs>257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3" baseType="lpstr">
      <vt:lpstr>맑은 고딕</vt:lpstr>
      <vt:lpstr>Arial</vt:lpstr>
      <vt:lpstr>Calibri</vt:lpstr>
      <vt:lpstr>Calibri Light</vt:lpstr>
      <vt:lpstr>Wingdings</vt:lpstr>
      <vt:lpstr>Office 테마</vt:lpstr>
      <vt:lpstr>텀프로젝트 (신발 쇼핑몰)</vt:lpstr>
      <vt:lpstr>클론 코딩</vt:lpstr>
      <vt:lpstr>헤더(이전)</vt:lpstr>
      <vt:lpstr>헤더(신규)</vt:lpstr>
      <vt:lpstr>이미지 슬라이드(이전)</vt:lpstr>
      <vt:lpstr>이미지 슬라이드(신규)</vt:lpstr>
      <vt:lpstr>렌딩 페이지 디자인(신규)</vt:lpstr>
      <vt:lpstr>상품 목록 페이지(이전)</vt:lpstr>
      <vt:lpstr>상품 목록 페이지(신규)</vt:lpstr>
      <vt:lpstr>상품 목록 페이지(기존+신규)</vt:lpstr>
      <vt:lpstr>상품 목록 페이지(신규)</vt:lpstr>
      <vt:lpstr>제품 도메인 설명</vt:lpstr>
      <vt:lpstr>제품 도메인 설명</vt:lpstr>
      <vt:lpstr>상품 목록 페이지</vt:lpstr>
      <vt:lpstr>상품 목록 페이지</vt:lpstr>
      <vt:lpstr>상품 상세 페이지</vt:lpstr>
      <vt:lpstr>상품 상세 페이지</vt:lpstr>
      <vt:lpstr>상품 상세 페이지</vt:lpstr>
      <vt:lpstr>상품 상세 페이지</vt:lpstr>
      <vt:lpstr>상품 상세 페이지(수정)</vt:lpstr>
      <vt:lpstr>관리자페이지</vt:lpstr>
      <vt:lpstr>평가사항 정리</vt:lpstr>
      <vt:lpstr>구현</vt:lpstr>
      <vt:lpstr>사전 데이터</vt:lpstr>
      <vt:lpstr>검사순서</vt:lpstr>
      <vt:lpstr>검사순서</vt:lpstr>
      <vt:lpstr>팀구성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678</cp:revision>
  <dcterms:created xsi:type="dcterms:W3CDTF">2020-03-06T01:35:43Z</dcterms:created>
  <dcterms:modified xsi:type="dcterms:W3CDTF">2025-11-12T06:17:46Z</dcterms:modified>
  <cp:version>1000.0000.01</cp:version>
</cp:coreProperties>
</file>